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6256000" cy="9144000"/>
  <p:notesSz cx="9144000" cy="16256000"/>
  <p:embeddedFontLst>
    <p:embeddedFont>
      <p:font typeface="Liter" panose="02000503030000020004" pitchFamily="34" charset="0"/>
      <p:regular r:id="rId25"/>
    </p:embeddedFont>
    <p:embeddedFont>
      <p:font typeface="Liter" panose="02000503030000020004" pitchFamily="34" charset="-122"/>
      <p:regular r:id="rId26"/>
    </p:embeddedFont>
    <p:embeddedFont>
      <p:font typeface="Liter" panose="020005030300000200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www.nowcoder.com/" TargetMode="External"/><Relationship Id="rId4" Type="http://schemas.openxmlformats.org/officeDocument/2006/relationships/hyperlink" Target="https://www.acwing.com/" TargetMode="External"/><Relationship Id="rId3" Type="http://schemas.openxmlformats.org/officeDocument/2006/relationships/hyperlink" Target="https://codeforces.com/" TargetMode="External"/><Relationship Id="rId2" Type="http://schemas.openxmlformats.org/officeDocument/2006/relationships/hyperlink" Target="https://www.luogu.com.cn/" TargetMode="External"/><Relationship Id="rId1" Type="http://schemas.openxmlformats.org/officeDocument/2006/relationships/hyperlink" Target="https://www.lanqiao.c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h5kuyff64idy/mnt/agents/output/lanqiao_cup/images/1_Abstract_dark_blue_hi_tech_geometric.png"/>
          <p:cNvPicPr>
            <a:picLocks noChangeAspect="1"/>
          </p:cNvPicPr>
          <p:nvPr/>
        </p:nvPicPr>
        <p:blipFill>
          <a:blip r:embed="rId1"/>
          <a:srcRect t="10223" b="1022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B6B7A">
                  <a:alpha val="94000"/>
                </a:srgbClr>
              </a:gs>
              <a:gs pos="60000">
                <a:srgbClr val="5B6B7A">
                  <a:alpha val="88000"/>
                </a:srgbClr>
              </a:gs>
              <a:gs pos="100000">
                <a:srgbClr val="5B6B7A">
                  <a:alpha val="50000"/>
                </a:srgbClr>
              </a:gs>
            </a:gsLst>
            <a:lin ang="0" scaled="1"/>
          </a:gradFill>
          <a:ln w="12700">
            <a:solidFill>
              <a:srgbClr val="44546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540000"/>
            <a:ext cx="76200" cy="2286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Text 2"/>
          <p:cNvSpPr/>
          <p:nvPr/>
        </p:nvSpPr>
        <p:spPr>
          <a:xfrm>
            <a:off x="1397000" y="2540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蓝桥杯备赛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97000" y="45720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4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坚持刷题，稳步提升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97000" y="50038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25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while (practicing) { skill++; confidence++; }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635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6" name="Text 4"/>
          <p:cNvSpPr/>
          <p:nvPr/>
        </p:nvSpPr>
        <p:spPr>
          <a:xfrm>
            <a:off x="5334000" y="1524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1524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认识蓝桥杯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000" y="2032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赛事概况与赛制解析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0" y="2667000"/>
            <a:ext cx="9398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10" name="Text 8"/>
          <p:cNvSpPr/>
          <p:nvPr/>
        </p:nvSpPr>
        <p:spPr>
          <a:xfrm>
            <a:off x="5334000" y="3048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304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零基础备赛路线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0" y="3556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分阶段学习规划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0" y="4191000"/>
            <a:ext cx="9398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14" name="Text 12"/>
          <p:cNvSpPr/>
          <p:nvPr/>
        </p:nvSpPr>
        <p:spPr>
          <a:xfrm>
            <a:off x="5334000" y="4572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4572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高频题型拆解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000" y="5080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入门级解题方法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0" y="5715000"/>
            <a:ext cx="9398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18" name="Text 16"/>
          <p:cNvSpPr/>
          <p:nvPr/>
        </p:nvSpPr>
        <p:spPr>
          <a:xfrm>
            <a:off x="5334000" y="60960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0" y="6096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考场实战指南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0" y="6604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技巧与资源汇总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0" y="7239000"/>
            <a:ext cx="9398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22" name="Text 20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kern="0" spc="400" dirty="0">
                <a:solidFill>
                  <a:srgbClr val="FFFFFF">
                    <a:alpha val="12549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016000" y="4318000"/>
            <a:ext cx="762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4" name="Text 2"/>
          <p:cNvSpPr/>
          <p:nvPr/>
        </p:nvSpPr>
        <p:spPr>
          <a:xfrm>
            <a:off x="1016000" y="4572000"/>
            <a:ext cx="635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认识蓝桥杯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53975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赛事概况、赛制规则与题型特点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FFFFFF">
              <a:alpha val="8235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蓝桥杯赛事概况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Text 3"/>
          <p:cNvSpPr/>
          <p:nvPr/>
        </p:nvSpPr>
        <p:spPr>
          <a:xfrm>
            <a:off x="762000" y="1714500"/>
            <a:ext cx="8382000" cy="647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▎</a:t>
            </a:r>
            <a:r>
              <a:rPr lang="en-US" sz="18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参赛对象</a:t>
            </a: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：具有正式全日制学籍的研究生、本科生及高职高专学生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▎</a:t>
            </a:r>
            <a:r>
              <a:rPr lang="en-US" sz="18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赛程安排</a:t>
            </a: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：省赛（4月）→ 国赛（6月），省赛一等奖晋级总决赛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▎</a:t>
            </a:r>
            <a:r>
              <a:rPr lang="en-US" sz="18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支持语言</a:t>
            </a: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：C/C++、Java、Python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▎</a:t>
            </a:r>
            <a:r>
              <a:rPr lang="en-US" sz="18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赛事规模</a:t>
            </a: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：覆盖全国1600余所高校，参赛人数超20万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▎</a:t>
            </a:r>
            <a:r>
              <a:rPr lang="en-US" sz="18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实际价值</a:t>
            </a: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：多所高校纳入保研、奖学金评定加分项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52000" y="1714500"/>
            <a:ext cx="5842000" cy="6477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7" name="Text 5"/>
          <p:cNvSpPr/>
          <p:nvPr/>
        </p:nvSpPr>
        <p:spPr>
          <a:xfrm>
            <a:off x="10033000" y="19685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软件赛组别划分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33000" y="2476500"/>
            <a:ext cx="5080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9" name="Text 7"/>
          <p:cNvSpPr/>
          <p:nvPr/>
        </p:nvSpPr>
        <p:spPr>
          <a:xfrm>
            <a:off x="10033000" y="27305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大学A组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985/211高校 / 竞赛老手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33000" y="3937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大学B组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普通本科 / 算法入门选手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33000" y="51435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大学C组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高职高专 / 零基础入门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33000" y="6477000"/>
            <a:ext cx="508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建议：根据自身基础选择组别，B组前3题难度与C组接近，先抢基础分。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题型结构与评分机制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比赛时长 4 小时 · OI 赛制（提交后无即时反馈）· 按测试用例得分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86000"/>
            <a:ext cx="7048500" cy="3048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7" name="Shape 5"/>
          <p:cNvSpPr/>
          <p:nvPr/>
        </p:nvSpPr>
        <p:spPr>
          <a:xfrm>
            <a:off x="10795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0044" y="46752"/>
                </a:moveTo>
                <a:lnTo>
                  <a:pt x="359648" y="56356"/>
                </a:lnTo>
                <a:cubicBezTo>
                  <a:pt x="367109" y="63818"/>
                  <a:pt x="367109" y="75883"/>
                  <a:pt x="359648" y="83264"/>
                </a:cubicBezTo>
                <a:lnTo>
                  <a:pt x="336550" y="106442"/>
                </a:lnTo>
                <a:lnTo>
                  <a:pt x="299958" y="69850"/>
                </a:lnTo>
                <a:lnTo>
                  <a:pt x="323056" y="46752"/>
                </a:lnTo>
                <a:cubicBezTo>
                  <a:pt x="330518" y="39291"/>
                  <a:pt x="342583" y="39291"/>
                  <a:pt x="349964" y="46752"/>
                </a:cubicBezTo>
                <a:close/>
                <a:moveTo>
                  <a:pt x="166529" y="203359"/>
                </a:moveTo>
                <a:lnTo>
                  <a:pt x="273050" y="96758"/>
                </a:lnTo>
                <a:lnTo>
                  <a:pt x="309642" y="133350"/>
                </a:lnTo>
                <a:lnTo>
                  <a:pt x="203041" y="239871"/>
                </a:lnTo>
                <a:cubicBezTo>
                  <a:pt x="200739" y="242173"/>
                  <a:pt x="197882" y="243840"/>
                  <a:pt x="194786" y="244713"/>
                </a:cubicBezTo>
                <a:lnTo>
                  <a:pt x="148352" y="257969"/>
                </a:lnTo>
                <a:lnTo>
                  <a:pt x="161607" y="211534"/>
                </a:lnTo>
                <a:cubicBezTo>
                  <a:pt x="162481" y="208439"/>
                  <a:pt x="164147" y="205581"/>
                  <a:pt x="166449" y="203279"/>
                </a:cubicBezTo>
                <a:close/>
                <a:moveTo>
                  <a:pt x="296148" y="19844"/>
                </a:moveTo>
                <a:lnTo>
                  <a:pt x="139541" y="176371"/>
                </a:lnTo>
                <a:cubicBezTo>
                  <a:pt x="132636" y="183277"/>
                  <a:pt x="127635" y="191770"/>
                  <a:pt x="125016" y="201057"/>
                </a:cubicBezTo>
                <a:lnTo>
                  <a:pt x="102314" y="280432"/>
                </a:lnTo>
                <a:cubicBezTo>
                  <a:pt x="100409" y="287099"/>
                  <a:pt x="102235" y="294243"/>
                  <a:pt x="107156" y="299164"/>
                </a:cubicBezTo>
                <a:cubicBezTo>
                  <a:pt x="112078" y="304086"/>
                  <a:pt x="119221" y="305911"/>
                  <a:pt x="125889" y="304006"/>
                </a:cubicBezTo>
                <a:lnTo>
                  <a:pt x="205264" y="281305"/>
                </a:lnTo>
                <a:cubicBezTo>
                  <a:pt x="214630" y="278606"/>
                  <a:pt x="223123" y="273606"/>
                  <a:pt x="229949" y="266779"/>
                </a:cubicBezTo>
                <a:lnTo>
                  <a:pt x="386556" y="110252"/>
                </a:lnTo>
                <a:cubicBezTo>
                  <a:pt x="408861" y="87948"/>
                  <a:pt x="408861" y="51753"/>
                  <a:pt x="386556" y="29448"/>
                </a:cubicBezTo>
                <a:lnTo>
                  <a:pt x="376952" y="19844"/>
                </a:lnTo>
                <a:cubicBezTo>
                  <a:pt x="354648" y="-2461"/>
                  <a:pt x="318453" y="-2461"/>
                  <a:pt x="296148" y="19844"/>
                </a:cubicBezTo>
                <a:close/>
                <a:moveTo>
                  <a:pt x="69850" y="50800"/>
                </a:moveTo>
                <a:cubicBezTo>
                  <a:pt x="31274" y="50800"/>
                  <a:pt x="0" y="82074"/>
                  <a:pt x="0" y="120650"/>
                </a:cubicBezTo>
                <a:lnTo>
                  <a:pt x="0" y="336550"/>
                </a:lnTo>
                <a:cubicBezTo>
                  <a:pt x="0" y="375126"/>
                  <a:pt x="31274" y="406400"/>
                  <a:pt x="69850" y="406400"/>
                </a:cubicBezTo>
                <a:lnTo>
                  <a:pt x="285750" y="406400"/>
                </a:lnTo>
                <a:cubicBezTo>
                  <a:pt x="324326" y="406400"/>
                  <a:pt x="355600" y="375126"/>
                  <a:pt x="355600" y="336550"/>
                </a:cubicBezTo>
                <a:lnTo>
                  <a:pt x="355600" y="247650"/>
                </a:lnTo>
                <a:cubicBezTo>
                  <a:pt x="355600" y="237093"/>
                  <a:pt x="347107" y="228600"/>
                  <a:pt x="336550" y="228600"/>
                </a:cubicBezTo>
                <a:cubicBezTo>
                  <a:pt x="325993" y="228600"/>
                  <a:pt x="317500" y="237093"/>
                  <a:pt x="317500" y="247650"/>
                </a:cubicBezTo>
                <a:lnTo>
                  <a:pt x="317500" y="336550"/>
                </a:lnTo>
                <a:cubicBezTo>
                  <a:pt x="317500" y="354092"/>
                  <a:pt x="303292" y="368300"/>
                  <a:pt x="285750" y="368300"/>
                </a:cubicBezTo>
                <a:lnTo>
                  <a:pt x="69850" y="368300"/>
                </a:lnTo>
                <a:cubicBezTo>
                  <a:pt x="52308" y="368300"/>
                  <a:pt x="38100" y="354092"/>
                  <a:pt x="38100" y="336550"/>
                </a:cubicBezTo>
                <a:lnTo>
                  <a:pt x="38100" y="120650"/>
                </a:lnTo>
                <a:cubicBezTo>
                  <a:pt x="38100" y="103108"/>
                  <a:pt x="52308" y="88900"/>
                  <a:pt x="69850" y="88900"/>
                </a:cubicBezTo>
                <a:lnTo>
                  <a:pt x="158750" y="88900"/>
                </a:lnTo>
                <a:cubicBezTo>
                  <a:pt x="169307" y="88900"/>
                  <a:pt x="177800" y="80407"/>
                  <a:pt x="177800" y="69850"/>
                </a:cubicBezTo>
                <a:cubicBezTo>
                  <a:pt x="177800" y="59293"/>
                  <a:pt x="169307" y="50800"/>
                  <a:pt x="158750" y="50800"/>
                </a:cubicBezTo>
                <a:lnTo>
                  <a:pt x="69850" y="50800"/>
                </a:lnTo>
                <a:close/>
              </a:path>
            </a:pathLst>
          </a:custGeom>
          <a:solidFill>
            <a:srgbClr val="7A8B96"/>
          </a:solidFill>
        </p:spPr>
      </p:sp>
      <p:sp>
        <p:nvSpPr>
          <p:cNvPr id="8" name="Text 6"/>
          <p:cNvSpPr/>
          <p:nvPr/>
        </p:nvSpPr>
        <p:spPr>
          <a:xfrm>
            <a:off x="1651000" y="25400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填空题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175000"/>
            <a:ext cx="6413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侧重数学计算、简单逻辑推理和数据处理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适合快速拿分，部分题可用 Excel 或计算器直接求解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策略：先算小样本找规律，再推导通用公式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2286000"/>
            <a:ext cx="7048500" cy="3048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1" name="Shape 9"/>
          <p:cNvSpPr/>
          <p:nvPr/>
        </p:nvSpPr>
        <p:spPr>
          <a:xfrm>
            <a:off x="8737600" y="2540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7A8B96"/>
          </a:solidFill>
        </p:spPr>
      </p:sp>
      <p:sp>
        <p:nvSpPr>
          <p:cNvPr id="12" name="Text 10"/>
          <p:cNvSpPr/>
          <p:nvPr/>
        </p:nvSpPr>
        <p:spPr>
          <a:xfrm>
            <a:off x="9334500" y="25400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编程题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175000"/>
            <a:ext cx="6413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侧重算法与数据结构应用，是拉开分差的核心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按测试用例得分，部分通过可拿对应分数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策略：先写暴力解法拿 30%-50% 分，再优化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5B6B7A">
              <a:alpha val="6275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62000" y="5715000"/>
            <a:ext cx="50800" cy="1270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6" name="Text 14"/>
          <p:cNvSpPr/>
          <p:nvPr/>
        </p:nvSpPr>
        <p:spPr>
          <a:xfrm>
            <a:off x="1079500" y="58420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核心得分策略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248400"/>
            <a:ext cx="14097000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80% 的分数来自基础题和中等题。先保证会做的题全对，再挑战难题。暴力解法也能拿可观分数，不要因追求完美解法而浪费时间。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kern="0" spc="400" dirty="0">
                <a:solidFill>
                  <a:srgbClr val="FFFFFF">
                    <a:alpha val="12549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016000" y="4318000"/>
            <a:ext cx="762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4" name="Text 2"/>
          <p:cNvSpPr/>
          <p:nvPr/>
        </p:nvSpPr>
        <p:spPr>
          <a:xfrm>
            <a:off x="1016000" y="45720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零基础备赛路线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5397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从编程语法到算法思维的渐进式学习路径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FFFFFF">
              <a:alpha val="8235"/>
            </a:srgbClr>
          </a:solidFill>
        </p:spPr>
      </p:sp>
      <p:sp>
        <p:nvSpPr>
          <p:cNvPr id="8" name="文本框 7"/>
          <p:cNvSpPr txBox="1"/>
          <p:nvPr/>
        </p:nvSpPr>
        <p:spPr>
          <a:xfrm>
            <a:off x="11959590" y="6294755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四阶段备赛时间线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62000" y="2476500"/>
            <a:ext cx="14732000" cy="254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841500" y="2387600"/>
            <a:ext cx="203200" cy="203200"/>
          </a:xfrm>
          <a:prstGeom prst="ellipse">
            <a:avLst/>
          </a:prstGeom>
          <a:solidFill>
            <a:srgbClr val="7A8B96"/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5524500" y="2387600"/>
            <a:ext cx="203200" cy="203200"/>
          </a:xfrm>
          <a:prstGeom prst="ellipse">
            <a:avLst/>
          </a:prstGeom>
          <a:solidFill>
            <a:srgbClr val="7A8B96"/>
          </a:solidFill>
        </p:spPr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9207500" y="2387600"/>
            <a:ext cx="203200" cy="203200"/>
          </a:xfrm>
          <a:prstGeom prst="ellipse">
            <a:avLst/>
          </a:prstGeom>
          <a:solidFill>
            <a:srgbClr val="7A8B96"/>
          </a:solidFill>
        </p:spPr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2890500" y="2387600"/>
            <a:ext cx="203200" cy="203200"/>
          </a:xfrm>
          <a:prstGeom prst="ellipse">
            <a:avLst/>
          </a:prstGeom>
          <a:solidFill>
            <a:srgbClr val="7A8B96"/>
          </a:solidFill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762000" y="1968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 个月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445000" y="1968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 个月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8128000" y="1968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 个月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11811000" y="19685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 个月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762000" y="2857500"/>
            <a:ext cx="3492500" cy="3937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016000" y="3048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编程语言基础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16000" y="3556000"/>
            <a:ext cx="2984500" cy="298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变量与数据类型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条件判断与循环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数组与字符串操作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函数定义与调用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C++ 额外掌握 STL</a:t>
            </a:r>
            <a:endParaRPr lang="en-US" sz="16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508500" y="2857500"/>
            <a:ext cx="3492500" cy="3937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762500" y="3048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数据结构筑基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762500" y="3556000"/>
            <a:ext cx="2984500" cy="298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数组与字符串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栈、队列、链表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二叉树遍历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哈希表应用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并查集、堆</a:t>
            </a:r>
            <a:endParaRPr lang="en-US" sz="16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8255000" y="2857500"/>
            <a:ext cx="3492500" cy="3937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8509000" y="3048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核心算法突破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8509000" y="3556000"/>
            <a:ext cx="2984500" cy="298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排序与二分查找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DFS / BFS 搜索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动态规划入门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贪心算法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数论基础</a:t>
            </a:r>
            <a:endParaRPr lang="en-US" sz="160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12001500" y="2857500"/>
            <a:ext cx="3492500" cy="3937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12255500" y="3048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真题冲刺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12255500" y="3556000"/>
            <a:ext cx="2984500" cy="298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近10年省赛真题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限时4小时模拟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错题复盘整理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薄弱环节专项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每日时间分配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数据结构学习重点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Text 3"/>
          <p:cNvSpPr/>
          <p:nvPr/>
        </p:nvSpPr>
        <p:spPr>
          <a:xfrm>
            <a:off x="762000" y="1714500"/>
            <a:ext cx="7112000" cy="647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数组与字符串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遍历、反转、子串查找、前缀和 / 差分技巧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栈与队列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表达式求值、括号匹配、滑动窗口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图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建图、dfs/bfs、最短路、最小生成树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0" y="1714500"/>
            <a:ext cx="7112000" cy="3048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7" name="Text 5"/>
          <p:cNvSpPr/>
          <p:nvPr/>
        </p:nvSpPr>
        <p:spPr>
          <a:xfrm>
            <a:off x="8699500" y="1905000"/>
            <a:ext cx="647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进阶结构（省赛高频）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99500" y="2413000"/>
            <a:ext cx="6477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并查集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：路径压缩与按秩合并，解决连通性问题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堆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：大顶堆 / 小顶堆，解决 Top K 问题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哈希表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：unordered_map / set的熟练应用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5080000"/>
            <a:ext cx="7112000" cy="31115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0" name="Text 8"/>
          <p:cNvSpPr/>
          <p:nvPr/>
        </p:nvSpPr>
        <p:spPr>
          <a:xfrm>
            <a:off x="8699500" y="5270500"/>
            <a:ext cx="647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训练方法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99500" y="5715000"/>
            <a:ext cx="6477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12" name="Text 10"/>
          <p:cNvSpPr/>
          <p:nvPr/>
        </p:nvSpPr>
        <p:spPr>
          <a:xfrm>
            <a:off x="8699500" y="5905500"/>
            <a:ext cx="6477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刷 3-5 道对应真题巩固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例如：用哈希表做「去重」问题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用并查集做「朋友圈」问题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09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16000" y="4572000"/>
            <a:ext cx="635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FFFFFF">
              <a:alpha val="8235"/>
            </a:srgbClr>
          </a:solidFill>
        </p:spPr>
      </p:sp>
      <p:sp>
        <p:nvSpPr>
          <p:cNvPr id="6" name="文本框 5"/>
          <p:cNvSpPr txBox="1"/>
          <p:nvPr/>
        </p:nvSpPr>
        <p:spPr>
          <a:xfrm>
            <a:off x="1167130" y="727710"/>
            <a:ext cx="10982325" cy="6466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#include&lt;bits/stdc++.h&gt;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#define int long long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using namespace std;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void solve() {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}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signed main() {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ios::sync_with_stdio(0);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cin.tie(0), cout.tie(0);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int t = 1;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//cin &gt;&gt; t;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while (t--) {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	solve();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}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	return 0;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3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}</a:t>
            </a:r>
            <a:endParaRPr lang="en-US" sz="3200" dirty="0">
              <a:solidFill>
                <a:srgbClr val="FFFFFF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kern="0" spc="400" dirty="0">
                <a:solidFill>
                  <a:srgbClr val="FFFFFF">
                    <a:alpha val="12549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016000" y="4318000"/>
            <a:ext cx="762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4" name="Text 2"/>
          <p:cNvSpPr/>
          <p:nvPr/>
        </p:nvSpPr>
        <p:spPr>
          <a:xfrm>
            <a:off x="1016000" y="45720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高频题型拆解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5397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入门级解题方法与核心思路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FFFFFF">
              <a:alpha val="8235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枚举模拟与排序查找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/>
        </p:nvSpPr>
        <p:spPr>
          <a:xfrm>
            <a:off x="762000" y="1714500"/>
            <a:ext cx="7112000" cy="2032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2032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7" name="Text 5"/>
          <p:cNvSpPr/>
          <p:nvPr/>
        </p:nvSpPr>
        <p:spPr>
          <a:xfrm>
            <a:off x="1016000" y="1841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枚举法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60600"/>
            <a:ext cx="660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直接枚举所有可能，适用于状态空间小的题目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典型场景：日期计算、全排列生成、数字特征提取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注意优化：配合剪枝或打表减少计算量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000500"/>
            <a:ext cx="7112000" cy="2032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0" name="Shape 8"/>
          <p:cNvSpPr/>
          <p:nvPr/>
        </p:nvSpPr>
        <p:spPr>
          <a:xfrm>
            <a:off x="762000" y="4000500"/>
            <a:ext cx="50800" cy="2032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1" name="Text 9"/>
          <p:cNvSpPr/>
          <p:nvPr/>
        </p:nvSpPr>
        <p:spPr>
          <a:xfrm>
            <a:off x="1016000" y="4127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模拟法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546600"/>
            <a:ext cx="660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按题目描述逐步执行，忠实还原过程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关键：注意边界条件和特殊情况处理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适合流程清晰、规则明确的题目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286500"/>
            <a:ext cx="7112000" cy="2032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4" name="Shape 12"/>
          <p:cNvSpPr/>
          <p:nvPr/>
        </p:nvSpPr>
        <p:spPr>
          <a:xfrm>
            <a:off x="762000" y="6286500"/>
            <a:ext cx="50800" cy="2032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5" name="Text 13"/>
          <p:cNvSpPr/>
          <p:nvPr/>
        </p:nvSpPr>
        <p:spPr>
          <a:xfrm>
            <a:off x="1016000" y="6413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双指针技巧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832600"/>
            <a:ext cx="660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滑动窗口、快慢指针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将 O(n²) 降为 O(n) 的常用技巧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适用于连续子数组、子序列问题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1714500"/>
            <a:ext cx="7112000" cy="6604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8" name="Text 16"/>
          <p:cNvSpPr/>
          <p:nvPr/>
        </p:nvSpPr>
        <p:spPr>
          <a:xfrm>
            <a:off x="8699500" y="1968500"/>
            <a:ext cx="6477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排序与二分查找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99500" y="2476500"/>
            <a:ext cx="6477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8699500" y="2667000"/>
            <a:ext cx="6477000" cy="533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排序算法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掌握快排和归并排序（O(n log n)）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理解分治思想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应用：排序后去重、自定义比较器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二分查找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不仅用于查找，更是一种解题思路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掌握「左闭右开」标准写法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经典变形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旋转数组最小值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寻找峰值元素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二分答案（将求解转为判定）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搜索与动态规划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/>
        </p:nvSpPr>
        <p:spPr>
          <a:xfrm>
            <a:off x="762000" y="1714500"/>
            <a:ext cx="7112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6" name="Text 4"/>
          <p:cNvSpPr/>
          <p:nvPr/>
        </p:nvSpPr>
        <p:spPr>
          <a:xfrm>
            <a:off x="1016000" y="18796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DFS 深度优先搜索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349500"/>
            <a:ext cx="6604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递归实现，解决路径查找、子集生成、连通块问题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核心技巧 — 剪枝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：提前排除不可能的分支，大幅提升效率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经典例题：八皇后、迷宫问题、全排列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714500"/>
            <a:ext cx="7112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9" name="Text 7"/>
          <p:cNvSpPr/>
          <p:nvPr/>
        </p:nvSpPr>
        <p:spPr>
          <a:xfrm>
            <a:off x="8636000" y="18796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BFS 广度优先搜索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349500"/>
            <a:ext cx="6604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队列实现，解决最短路径、层序遍历问题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适用场景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：求「最少步数」类题目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经典例题：迷宫最短路径、岛屿数量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207000"/>
            <a:ext cx="14732000" cy="3048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2" name="Text 10"/>
          <p:cNvSpPr/>
          <p:nvPr/>
        </p:nvSpPr>
        <p:spPr>
          <a:xfrm>
            <a:off x="1079500" y="539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动态规划入门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" y="5867400"/>
            <a:ext cx="14097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079500" y="6032500"/>
            <a:ext cx="14097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核心思想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：将复杂问题拆分为子问题，记录子问题结果避免重复计算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训练技巧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：先画状态转移表，再写代码。如爬楼梯问题：dp[i] = dp[i-1] + dp[i-2]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经典题型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：背包问题（01背包 / 完全背包）、最长公共子序列、最长递增子序列、路径计数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贪心与数论基础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/>
        </p:nvSpPr>
        <p:spPr>
          <a:xfrm>
            <a:off x="762000" y="1714500"/>
            <a:ext cx="7112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31750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7" name="Text 5"/>
          <p:cNvSpPr/>
          <p:nvPr/>
        </p:nvSpPr>
        <p:spPr>
          <a:xfrm>
            <a:off x="1016000" y="18796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贪心算法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349500"/>
            <a:ext cx="6604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核心思想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：每一步选择当前最优解，最终得到全局最优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适用题型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：活动安排、区间覆盖、哈夫曼编码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A8B9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注意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：贪心并非适用于所有问题，需验证「局部最优能推导出全局最优」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14500"/>
            <a:ext cx="7112000" cy="3429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0" name="Text 8"/>
          <p:cNvSpPr/>
          <p:nvPr/>
        </p:nvSpPr>
        <p:spPr>
          <a:xfrm>
            <a:off x="8636000" y="18796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数论基础（填空题高频）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2349500"/>
            <a:ext cx="660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636000" y="2514600"/>
            <a:ext cx="660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最大公约数与最小公倍数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欧几里得算法（辗转相除）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素数判断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埃氏筛 / 欧拉筛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快速幂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高效计算 a^b mod 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14732000" cy="3048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4" name="Text 12"/>
          <p:cNvSpPr/>
          <p:nvPr/>
        </p:nvSpPr>
        <p:spPr>
          <a:xfrm>
            <a:off x="1016000" y="539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组合数学基础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5867400"/>
            <a:ext cx="14224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16" name="Text 14"/>
          <p:cNvSpPr/>
          <p:nvPr/>
        </p:nvSpPr>
        <p:spPr>
          <a:xfrm>
            <a:off x="1016000" y="6032500"/>
            <a:ext cx="14224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排列组合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：理解加法原理和乘法原理，掌握排列数与组合数公式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容斥原理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：用于求解「至少满足一个条件」的计数问题，避免重复计算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卡特兰数</a:t>
            </a:r>
            <a:r>
              <a:rPr lang="en-US" sz="16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：了解其应用场景（合法括号序列、二叉树形态计数等）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13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6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kern="0" spc="400" dirty="0">
                <a:solidFill>
                  <a:srgbClr val="FFFFFF">
                    <a:alpha val="12549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1016000" y="4318000"/>
            <a:ext cx="762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4" name="Text 2"/>
          <p:cNvSpPr/>
          <p:nvPr/>
        </p:nvSpPr>
        <p:spPr>
          <a:xfrm>
            <a:off x="1016000" y="45720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考场实战指南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5397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得分策略、应试技巧与刷题资源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FFFFFF">
              <a:alpha val="8235"/>
            </a:srgbClr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考场技巧与得分策略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/>
        </p:nvSpPr>
        <p:spPr>
          <a:xfrm>
            <a:off x="762000" y="1714500"/>
            <a:ext cx="4699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6" name="Shape 4"/>
          <p:cNvSpPr/>
          <p:nvPr/>
        </p:nvSpPr>
        <p:spPr>
          <a:xfrm>
            <a:off x="10160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2263" y="177800"/>
                </a:moveTo>
                <a:cubicBezTo>
                  <a:pt x="322263" y="257531"/>
                  <a:pt x="257531" y="322263"/>
                  <a:pt x="177800" y="322263"/>
                </a:cubicBezTo>
                <a:cubicBezTo>
                  <a:pt x="98069" y="322263"/>
                  <a:pt x="33338" y="257531"/>
                  <a:pt x="33337" y="177800"/>
                </a:cubicBezTo>
                <a:cubicBezTo>
                  <a:pt x="33337" y="98069"/>
                  <a:pt x="98069" y="33338"/>
                  <a:pt x="177800" y="33337"/>
                </a:cubicBezTo>
                <a:cubicBezTo>
                  <a:pt x="257531" y="33337"/>
                  <a:pt x="322263" y="98069"/>
                  <a:pt x="322263" y="177800"/>
                </a:cubicBezTo>
                <a:close/>
                <a:moveTo>
                  <a:pt x="0" y="177800"/>
                </a:moveTo>
                <a:cubicBezTo>
                  <a:pt x="0" y="275930"/>
                  <a:pt x="79670" y="355600"/>
                  <a:pt x="177800" y="355600"/>
                </a:cubicBez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7A8B96"/>
          </a:solidFill>
        </p:spPr>
      </p:sp>
      <p:sp>
        <p:nvSpPr>
          <p:cNvPr id="7" name="Text 5"/>
          <p:cNvSpPr/>
          <p:nvPr/>
        </p:nvSpPr>
        <p:spPr>
          <a:xfrm>
            <a:off x="1498600" y="1905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时间分配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4130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 小时约 8 题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平均每题控制在 30 分钟内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遇到难题先跳过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先拿简单题分数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最后再啃硬骨头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714500"/>
            <a:ext cx="4699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0" name="Shape 8"/>
          <p:cNvSpPr/>
          <p:nvPr/>
        </p:nvSpPr>
        <p:spPr>
          <a:xfrm>
            <a:off x="60325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6288" y="40908"/>
                </a:moveTo>
                <a:lnTo>
                  <a:pt x="314692" y="49312"/>
                </a:lnTo>
                <a:cubicBezTo>
                  <a:pt x="321221" y="55840"/>
                  <a:pt x="321221" y="66397"/>
                  <a:pt x="314692" y="72856"/>
                </a:cubicBezTo>
                <a:lnTo>
                  <a:pt x="294481" y="93137"/>
                </a:lnTo>
                <a:lnTo>
                  <a:pt x="262463" y="61119"/>
                </a:lnTo>
                <a:lnTo>
                  <a:pt x="282674" y="40908"/>
                </a:lnTo>
                <a:cubicBezTo>
                  <a:pt x="289203" y="34379"/>
                  <a:pt x="299760" y="34379"/>
                  <a:pt x="306219" y="40908"/>
                </a:cubicBezTo>
                <a:close/>
                <a:moveTo>
                  <a:pt x="145713" y="177939"/>
                </a:moveTo>
                <a:lnTo>
                  <a:pt x="238919" y="84663"/>
                </a:lnTo>
                <a:lnTo>
                  <a:pt x="270937" y="116681"/>
                </a:lnTo>
                <a:lnTo>
                  <a:pt x="177661" y="209887"/>
                </a:lnTo>
                <a:cubicBezTo>
                  <a:pt x="175647" y="211901"/>
                  <a:pt x="173147" y="213360"/>
                  <a:pt x="170438" y="214124"/>
                </a:cubicBezTo>
                <a:lnTo>
                  <a:pt x="129808" y="225723"/>
                </a:lnTo>
                <a:lnTo>
                  <a:pt x="141407" y="185093"/>
                </a:lnTo>
                <a:cubicBezTo>
                  <a:pt x="142171" y="182384"/>
                  <a:pt x="143629" y="179884"/>
                  <a:pt x="145643" y="177869"/>
                </a:cubicBezTo>
                <a:close/>
                <a:moveTo>
                  <a:pt x="259130" y="17363"/>
                </a:moveTo>
                <a:lnTo>
                  <a:pt x="122099" y="154325"/>
                </a:lnTo>
                <a:cubicBezTo>
                  <a:pt x="116056" y="160367"/>
                  <a:pt x="111681" y="167799"/>
                  <a:pt x="109389" y="175925"/>
                </a:cubicBezTo>
                <a:lnTo>
                  <a:pt x="89525" y="245378"/>
                </a:lnTo>
                <a:cubicBezTo>
                  <a:pt x="87858" y="251212"/>
                  <a:pt x="89456" y="257463"/>
                  <a:pt x="93762" y="261769"/>
                </a:cubicBezTo>
                <a:cubicBezTo>
                  <a:pt x="98068" y="266075"/>
                  <a:pt x="104319" y="267672"/>
                  <a:pt x="110153" y="266005"/>
                </a:cubicBezTo>
                <a:lnTo>
                  <a:pt x="179606" y="246142"/>
                </a:lnTo>
                <a:cubicBezTo>
                  <a:pt x="187801" y="243780"/>
                  <a:pt x="195233" y="239405"/>
                  <a:pt x="201206" y="233432"/>
                </a:cubicBezTo>
                <a:lnTo>
                  <a:pt x="338237" y="96470"/>
                </a:lnTo>
                <a:cubicBezTo>
                  <a:pt x="357753" y="76954"/>
                  <a:pt x="357753" y="45283"/>
                  <a:pt x="338237" y="25767"/>
                </a:cubicBezTo>
                <a:lnTo>
                  <a:pt x="329833" y="17363"/>
                </a:lnTo>
                <a:cubicBezTo>
                  <a:pt x="310317" y="-2153"/>
                  <a:pt x="278646" y="-2153"/>
                  <a:pt x="259130" y="17363"/>
                </a:cubicBezTo>
                <a:close/>
                <a:moveTo>
                  <a:pt x="61119" y="44450"/>
                </a:moveTo>
                <a:cubicBezTo>
                  <a:pt x="27365" y="44450"/>
                  <a:pt x="0" y="71815"/>
                  <a:pt x="0" y="105569"/>
                </a:cubicBezTo>
                <a:lnTo>
                  <a:pt x="0" y="294481"/>
                </a:lnTo>
                <a:cubicBezTo>
                  <a:pt x="0" y="328235"/>
                  <a:pt x="27365" y="355600"/>
                  <a:pt x="61119" y="355600"/>
                </a:cubicBezTo>
                <a:lnTo>
                  <a:pt x="250031" y="355600"/>
                </a:lnTo>
                <a:cubicBezTo>
                  <a:pt x="283785" y="355600"/>
                  <a:pt x="311150" y="328235"/>
                  <a:pt x="311150" y="294481"/>
                </a:cubicBezTo>
                <a:lnTo>
                  <a:pt x="311150" y="216694"/>
                </a:lnTo>
                <a:cubicBezTo>
                  <a:pt x="311150" y="207456"/>
                  <a:pt x="303719" y="200025"/>
                  <a:pt x="294481" y="200025"/>
                </a:cubicBezTo>
                <a:cubicBezTo>
                  <a:pt x="285244" y="200025"/>
                  <a:pt x="277813" y="207456"/>
                  <a:pt x="277813" y="216694"/>
                </a:cubicBezTo>
                <a:lnTo>
                  <a:pt x="277813" y="294481"/>
                </a:lnTo>
                <a:cubicBezTo>
                  <a:pt x="277813" y="309830"/>
                  <a:pt x="265380" y="322263"/>
                  <a:pt x="250031" y="322263"/>
                </a:cubicBezTo>
                <a:lnTo>
                  <a:pt x="61119" y="322263"/>
                </a:lnTo>
                <a:cubicBezTo>
                  <a:pt x="45770" y="322263"/>
                  <a:pt x="33337" y="309830"/>
                  <a:pt x="33337" y="294481"/>
                </a:cubicBezTo>
                <a:lnTo>
                  <a:pt x="33337" y="105569"/>
                </a:lnTo>
                <a:cubicBezTo>
                  <a:pt x="33337" y="90220"/>
                  <a:pt x="45770" y="77788"/>
                  <a:pt x="61119" y="77788"/>
                </a:cubicBezTo>
                <a:lnTo>
                  <a:pt x="138906" y="77788"/>
                </a:lnTo>
                <a:cubicBezTo>
                  <a:pt x="148144" y="77788"/>
                  <a:pt x="155575" y="70356"/>
                  <a:pt x="155575" y="61119"/>
                </a:cubicBezTo>
                <a:cubicBezTo>
                  <a:pt x="155575" y="51881"/>
                  <a:pt x="148144" y="44450"/>
                  <a:pt x="138906" y="44450"/>
                </a:cubicBezTo>
                <a:lnTo>
                  <a:pt x="61119" y="44450"/>
                </a:lnTo>
                <a:close/>
              </a:path>
            </a:pathLst>
          </a:custGeom>
          <a:solidFill>
            <a:srgbClr val="7A8B96"/>
          </a:solidFill>
        </p:spPr>
      </p:sp>
      <p:sp>
        <p:nvSpPr>
          <p:cNvPr id="11" name="Text 9"/>
          <p:cNvSpPr/>
          <p:nvPr/>
        </p:nvSpPr>
        <p:spPr>
          <a:xfrm>
            <a:off x="6515100" y="1905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填空题策略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4130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先算小样本找规律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再推导通用公式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暴力枚举 + 打表法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部分题可用 Excel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或计算器直接求解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714500"/>
            <a:ext cx="4699000" cy="31750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4" name="Shape 12"/>
          <p:cNvSpPr/>
          <p:nvPr/>
        </p:nvSpPr>
        <p:spPr>
          <a:xfrm>
            <a:off x="11026775" y="1930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7A8B96"/>
          </a:solidFill>
        </p:spPr>
      </p:sp>
      <p:sp>
        <p:nvSpPr>
          <p:cNvPr id="15" name="Text 13"/>
          <p:cNvSpPr/>
          <p:nvPr/>
        </p:nvSpPr>
        <p:spPr>
          <a:xfrm>
            <a:off x="11531600" y="1905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编程题策略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4130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先写暴力解法拿部分分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30%-50% 分数也很可观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数据超 int 用 long long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写完必须测试样例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检查边界与输入格式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3048000"/>
          </a:xfrm>
          <a:prstGeom prst="rect">
            <a:avLst/>
          </a:prstGeom>
          <a:solidFill>
            <a:srgbClr val="5B6B7A"/>
          </a:solidFill>
        </p:spPr>
      </p:sp>
      <p:sp>
        <p:nvSpPr>
          <p:cNvPr id="18" name="Text 16"/>
          <p:cNvSpPr/>
          <p:nvPr/>
        </p:nvSpPr>
        <p:spPr>
          <a:xfrm>
            <a:off x="1079500" y="539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心态管理要点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" y="5867400"/>
            <a:ext cx="14097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79500" y="6032500"/>
            <a:ext cx="14097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不因一道题卡太久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：如果思考超过 30 分钟仍无思路，果断跳过，先保证会做的题全对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代码完整性检查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：提交前确认变量初始化、数组边界、特殊情况处理是否到位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输入输出优化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：C/C++ 用 scanf/printf 替代 cin/cout；Python 用 sys.stdin.readline 加速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4732000" cy="12700"/>
          </a:xfrm>
          <a:prstGeom prst="rect">
            <a:avLst/>
          </a:prstGeom>
          <a:solidFill>
            <a:srgbClr val="D5D0CA"/>
          </a:solidFill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刷题渠道与备考资源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508000" cy="508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5" name="Shape 3"/>
          <p:cNvSpPr/>
          <p:nvPr/>
        </p:nvSpPr>
        <p:spPr>
          <a:xfrm>
            <a:off x="762000" y="1714500"/>
            <a:ext cx="7112000" cy="14605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6" name="Shape 4"/>
          <p:cNvSpPr/>
          <p:nvPr/>
        </p:nvSpPr>
        <p:spPr>
          <a:xfrm>
            <a:off x="762000" y="1714500"/>
            <a:ext cx="50800" cy="14605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7" name="Text 5"/>
          <p:cNvSpPr/>
          <p:nvPr/>
        </p:nvSpPr>
        <p:spPr>
          <a:xfrm>
            <a:off x="1016000" y="18161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蓝桥云课（官方）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60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近10年省赛/国赛真题，支持在线评测，必刷核心平台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u="sng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hlinkClick r:id="rId1" action="ppaction://hlinkfile"/>
              </a:rPr>
              <a:t>https://www.lanqiao.cn/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714500"/>
            <a:ext cx="7112000" cy="14605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0" name="Shape 8"/>
          <p:cNvSpPr/>
          <p:nvPr/>
        </p:nvSpPr>
        <p:spPr>
          <a:xfrm>
            <a:off x="8382000" y="1714500"/>
            <a:ext cx="50800" cy="14605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1" name="Text 9"/>
          <p:cNvSpPr/>
          <p:nvPr/>
        </p:nvSpPr>
        <p:spPr>
          <a:xfrm>
            <a:off x="8636000" y="18161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洛谷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222500"/>
            <a:ext cx="660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题库庞大，筛选「蓝桥杯」标签，重点刷入门和普及-难度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u="sng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hlinkClick r:id="rId2" action="ppaction://hlinkfile"/>
              </a:rPr>
              <a:t>https://www.luogu.com.cn/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429000"/>
            <a:ext cx="7112000" cy="14605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4" name="Shape 12"/>
          <p:cNvSpPr/>
          <p:nvPr/>
        </p:nvSpPr>
        <p:spPr>
          <a:xfrm>
            <a:off x="762000" y="3429000"/>
            <a:ext cx="50800" cy="14605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5" name="Text 13"/>
          <p:cNvSpPr/>
          <p:nvPr/>
        </p:nvSpPr>
        <p:spPr>
          <a:xfrm>
            <a:off x="1016000" y="3530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Codeforces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937000"/>
            <a:ext cx="660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蓝桥杯专项题库，按考点分类，配套题解和视频讲解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u="sng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hlinkClick r:id="rId3" action="ppaction://hlinkfile"/>
              </a:rPr>
              <a:t>Codeforce</a:t>
            </a:r>
            <a:r>
              <a:rPr lang="en-US" sz="1400" u="sng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hlinkClick r:id="rId4" action="ppaction://hlinkfile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29000"/>
            <a:ext cx="7112000" cy="1460500"/>
          </a:xfrm>
          <a:prstGeom prst="rect">
            <a:avLst/>
          </a:prstGeom>
          <a:solidFill>
            <a:srgbClr val="E8E5E0"/>
          </a:solidFill>
        </p:spPr>
      </p:sp>
      <p:sp>
        <p:nvSpPr>
          <p:cNvPr id="18" name="Shape 16"/>
          <p:cNvSpPr/>
          <p:nvPr/>
        </p:nvSpPr>
        <p:spPr>
          <a:xfrm>
            <a:off x="8382000" y="3429000"/>
            <a:ext cx="50800" cy="1460500"/>
          </a:xfrm>
          <a:prstGeom prst="rect">
            <a:avLst/>
          </a:prstGeom>
          <a:solidFill>
            <a:srgbClr val="7A8B96"/>
          </a:solidFill>
        </p:spPr>
      </p:sp>
      <p:sp>
        <p:nvSpPr>
          <p:cNvPr id="19" name="Text 17"/>
          <p:cNvSpPr/>
          <p:nvPr/>
        </p:nvSpPr>
        <p:spPr>
          <a:xfrm>
            <a:off x="8636000" y="3530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5B6B7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牛客网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3937000"/>
            <a:ext cx="660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蓝桥杯专项训练赛、周赛，适合模拟实战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u="sng" dirty="0">
                <a:solidFill>
                  <a:srgbClr val="3A3D42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  <a:hlinkClick r:id="rId5" action="ppaction://hlinkfile"/>
              </a:rPr>
              <a:t>https://www.nowcoder.com/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636000"/>
            <a:ext cx="127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E99A3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16 / 17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h5kuyff64idy/mnt/agents/output/lanqiao_cup/images/5_Abstract_dark_blue_background_minimal.png"/>
          <p:cNvPicPr>
            <a:picLocks noChangeAspect="1"/>
          </p:cNvPicPr>
          <p:nvPr/>
        </p:nvPicPr>
        <p:blipFill>
          <a:blip r:embed="rId1"/>
          <a:srcRect l="10525" r="1052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5B6B7A">
                  <a:alpha val="91000"/>
                </a:srgbClr>
              </a:gs>
              <a:gs pos="100000">
                <a:srgbClr val="5B6B7A">
                  <a:alpha val="96000"/>
                </a:srgbClr>
              </a:gs>
            </a:gsLst>
            <a:lin ang="5400000" scaled="1"/>
          </a:gradFill>
          <a:ln w="12700">
            <a:solidFill>
              <a:srgbClr val="44546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88000" y="3302000"/>
            <a:ext cx="5080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kern="0" spc="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坚持刷题 · 稳步提升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4572000"/>
            <a:ext cx="1143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蓝桥杯不是天才的游乐场，而是坚持者的舞台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从零基础到省奖，每天进步一点点，你也能在赛场上发光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88000" y="5842000"/>
            <a:ext cx="5080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200" dirty="0">
                <a:solidFill>
                  <a:srgbClr val="FFFFFF">
                    <a:alpha val="3764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LANQIAO CUP · 2026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2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3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4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5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6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7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8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9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0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1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2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3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4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5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6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7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8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19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20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ags/tag21.xml><?xml version="1.0" encoding="utf-8"?>
<p:tagLst xmlns:p="http://schemas.openxmlformats.org/presentationml/2006/main">
  <p:tag name="KSO_WM_DIAGRAM_VIRTUALLY_FRAME" val="{&quot;height&quot;:380,&quot;left&quot;:60,&quot;top&quot;:155,&quot;width&quot;:116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EEEEE"/>
      </a:lt2>
      <a:accent1>
        <a:srgbClr val="8BA5B5"/>
      </a:accent1>
      <a:accent2>
        <a:srgbClr val="D4A574"/>
      </a:accent2>
      <a:accent3>
        <a:srgbClr val="B0A99F"/>
      </a:accent3>
      <a:accent4>
        <a:srgbClr val="D4C4A0"/>
      </a:accent4>
      <a:accent5>
        <a:srgbClr val="6B8B9A"/>
      </a:accent5>
      <a:accent6>
        <a:srgbClr val="8AA87A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EEEEE"/>
      </a:lt2>
      <a:accent1>
        <a:srgbClr val="8BA5B5"/>
      </a:accent1>
      <a:accent2>
        <a:srgbClr val="D4A574"/>
      </a:accent2>
      <a:accent3>
        <a:srgbClr val="B0A99F"/>
      </a:accent3>
      <a:accent4>
        <a:srgbClr val="D4C4A0"/>
      </a:accent4>
      <a:accent5>
        <a:srgbClr val="6B8B9A"/>
      </a:accent5>
      <a:accent6>
        <a:srgbClr val="8AA87A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EEEEE"/>
      </a:lt2>
      <a:accent1>
        <a:srgbClr val="8BA5B5"/>
      </a:accent1>
      <a:accent2>
        <a:srgbClr val="D4A574"/>
      </a:accent2>
      <a:accent3>
        <a:srgbClr val="B0A99F"/>
      </a:accent3>
      <a:accent4>
        <a:srgbClr val="D4C4A0"/>
      </a:accent4>
      <a:accent5>
        <a:srgbClr val="6B8B9A"/>
      </a:accent5>
      <a:accent6>
        <a:srgbClr val="8AA87A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2757</Words>
  <Application>WPS 演示</Application>
  <PresentationFormat>On-screen Show (16:9)</PresentationFormat>
  <Paragraphs>337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60" baseType="lpstr">
      <vt:lpstr>Arial</vt:lpstr>
      <vt:lpstr>宋体</vt:lpstr>
      <vt:lpstr>Wingdings</vt:lpstr>
      <vt:lpstr>Liter</vt:lpstr>
      <vt:lpstr>Liter</vt:lpstr>
      <vt:lpstr>Liter</vt:lpstr>
      <vt:lpstr>Calibri</vt:lpstr>
      <vt:lpstr>微软雅黑</vt:lpstr>
      <vt:lpstr>Arial Unicode MS</vt:lpstr>
      <vt:lpstr>等线</vt:lpstr>
      <vt:lpstr>Calibri Light</vt:lpstr>
      <vt:lpstr>华文中宋</vt:lpstr>
      <vt:lpstr>HP Simplified Jpan</vt:lpstr>
      <vt:lpstr>MS UI Gothic</vt:lpstr>
      <vt:lpstr>MS PGothic</vt:lpstr>
      <vt:lpstr>Noto Sans SC Light</vt:lpstr>
      <vt:lpstr>华文宋体</vt:lpstr>
      <vt:lpstr>楷体</vt:lpstr>
      <vt:lpstr>HP Simplified Hans Light</vt:lpstr>
      <vt:lpstr>Noto Sans SC</vt:lpstr>
      <vt:lpstr>SimSun-ExtB</vt:lpstr>
      <vt:lpstr>Yu Gothic</vt:lpstr>
      <vt:lpstr>Arial Rounded MT Bold</vt:lpstr>
      <vt:lpstr>Bell MT</vt:lpstr>
      <vt:lpstr>Bodoni MT Black</vt:lpstr>
      <vt:lpstr>Cascadia Code</vt:lpstr>
      <vt:lpstr>Copperplate Gothic Bold</vt:lpstr>
      <vt:lpstr>Freestyle Script</vt:lpstr>
      <vt:lpstr>Gadugi</vt:lpstr>
      <vt:lpstr>Gill Sans MT Ext Condensed Bold</vt:lpstr>
      <vt:lpstr>Informal Roman</vt:lpstr>
      <vt:lpstr>Kunstler Script</vt:lpstr>
      <vt:lpstr>Lucida Console</vt:lpstr>
      <vt:lpstr>Lucida Calligraphy</vt:lpstr>
      <vt:lpstr>Lucida Fax</vt:lpstr>
      <vt:lpstr>Matura MT Script Capitals</vt:lpstr>
      <vt:lpstr>Microsoft New Tai Lue</vt:lpstr>
      <vt:lpstr>Maiandra GD</vt:lpstr>
      <vt:lpstr>Leelawadee UI</vt:lpstr>
      <vt:lpstr>Leelawadee</vt:lpstr>
      <vt:lpstr>Lucida Handwriting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蓝桥杯备赛科普指南</dc:title>
  <dc:creator>Kimi</dc:creator>
  <dc:subject>蓝桥杯备赛科普指南</dc:subject>
  <cp:lastModifiedBy>WPS_1688980782</cp:lastModifiedBy>
  <cp:revision>2</cp:revision>
  <dcterms:created xsi:type="dcterms:W3CDTF">2026-06-01T06:25:00Z</dcterms:created>
  <dcterms:modified xsi:type="dcterms:W3CDTF">2026-06-01T06:38:52Z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{"Label":"蓝桥杯备赛科普指南","ContentProducer":"001191110108MACG2KBH8F10000","ProduceID":"19e81bd5-6102-8e91-8000-000097b9d742","ReservedCode1":"","ContentPropagator":"001191110108MACG2KBH8F20000","PropagateID":"19e81bd5-6102-8e91-8000-000097b9d742","ReservedCode2":""}</vt:lpwstr>
  </property>
  <property fmtid="{D5CDD505-2E9C-101B-9397-08002B2CF9AE}" pid="3" name="ICV">
    <vt:lpwstr>26A37E40F0BC43F2B33C9AE61E16664E_12</vt:lpwstr>
  </property>
  <property fmtid="{D5CDD505-2E9C-101B-9397-08002B2CF9AE}" pid="4" name="KSOProductBuildVer">
    <vt:lpwstr>2052-12.1.0.21915</vt:lpwstr>
  </property>
</Properties>
</file>